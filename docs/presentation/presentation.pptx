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+mn-ea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+mn-ea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+mn-ea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1" d="100"/>
          <a:sy n="111" d="100"/>
        </p:scale>
        <p:origin x="828" y="10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747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47253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A5CFB8B-B9EB-4E3F-B143-7BE1A009C8C1}" type="datetimeFigureOut">
              <a:rPr lang="en-US"/>
              <a:t>3/25/2019</a:t>
            </a:fld>
            <a:endParaRPr lang="en-US"/>
          </a:p>
        </p:txBody>
      </p:sp>
      <p:sp>
        <p:nvSpPr>
          <p:cNvPr id="4687741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196577412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83697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3349885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89D10C4C-EAC2-4D66-B9F8-E052F2E25BC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D07E1-DFA9-F41F-D5D5-5FB257C73B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DC7F84-A60C-D7C8-79C6-8AC6C9060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2804D7-7304-1EE6-610B-0F14B7FF6C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D3ECDB-0F13-2466-D363-5E05BA234F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E94A3-3680-02EE-6582-04EEB57E5F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09A6FE-1DE9-8820-8BFF-BF865B369F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E89AAC-5589-E651-E0C0-3DFE300497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8D97C9-AE2E-4180-6CD0-65A2B2414D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601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12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438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9AEB2-BFF5-D2BE-6208-A25FE2BD62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954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1455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71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2C278-8BE7-FE1F-6EE4-9D3EEAF831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637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352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10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148D38-746A-F8B1-75FD-BE4579ADB9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9F30-0866-289B-A1D0-94C229ED40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2B7CD2-0E36-D74D-F981-C7BB8C3941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661E5F-AA76-01F8-0A6A-CAD799FDCA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media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vaslaid argi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836341" name="Picture 7"/>
          <p:cNvPicPr>
            <a:picLocks noChangeAspect="1"/>
          </p:cNvPicPr>
          <p:nvPr userDrawn="1"/>
        </p:nvPicPr>
        <p:blipFill rotWithShape="1">
          <a:blip r:embed="rId2"/>
          <a:srcRect l="-143" t="21094" r="-1" b="21589"/>
          <a:stretch/>
        </p:blipFill>
        <p:spPr bwMode="auto"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1097652240" name="Group 8"/>
          <p:cNvGrpSpPr/>
          <p:nvPr userDrawn="1"/>
        </p:nvGrpSpPr>
        <p:grpSpPr bwMode="auto"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10" name="Freeform 9"/>
            <p:cNvSpPr/>
            <p:nvPr userDrawn="1"/>
          </p:nvSpPr>
          <p:spPr bwMode="auto"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 fill="norm" stroke="1" extrusionOk="0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3" name="Picture 3" descr="C:\Users\ipihu\Desktop\logo.png"/>
            <p:cNvPicPr>
              <a:picLocks noChangeAspect="1" noChangeArrowheads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42158768" name="Picture 3" descr="C:\Users\ipihu\Desktop\logo.png"/>
          <p:cNvPicPr>
            <a:picLocks noChangeAspect="1" noChangeArrowheads="1"/>
          </p:cNvPicPr>
          <p:nvPr userDrawn="1"/>
        </p:nvPicPr>
        <p:blipFill rotWithShape="1">
          <a:blip r:embed="rId3"/>
          <a:stretch/>
        </p:blipFill>
        <p:spPr bwMode="auto">
          <a:xfrm>
            <a:off x="8686800" y="1966097"/>
            <a:ext cx="2449513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0700202" name="TextBox 5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66073289" name="Text Placeholder 1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942276" y="4472120"/>
            <a:ext cx="8892396" cy="85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1" i="0" cap="all">
                <a:solidFill>
                  <a:schemeClr val="accent3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 sz="3600"/>
              <a:t>Presentatsiooni Pealkiri</a:t>
            </a:r>
            <a:endParaRPr lang="et-EE" sz="3600">
              <a:solidFill>
                <a:schemeClr val="accent1"/>
              </a:solidFill>
            </a:endParaRPr>
          </a:p>
        </p:txBody>
      </p:sp>
      <p:sp>
        <p:nvSpPr>
          <p:cNvPr id="2088859052" name="Text Placeholder 1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64578" y="5791200"/>
            <a:ext cx="4738535" cy="7827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000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t-EE" sz="1800"/>
              <a:t>Nimi </a:t>
            </a:r>
            <a:r>
              <a:rPr lang="et-EE" sz="1800"/>
              <a:t>Nimeste</a:t>
            </a:r>
            <a:br>
              <a:rPr lang="et-EE" sz="1800"/>
            </a:br>
            <a:r>
              <a:rPr lang="et-EE" sz="1800"/>
              <a:t>Teaduskond / instituut </a:t>
            </a:r>
            <a:endParaRPr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800"/>
              <a:t>Tallinna</a:t>
            </a:r>
            <a:r>
              <a:rPr lang="en-US" sz="1800"/>
              <a:t> </a:t>
            </a:r>
            <a:r>
              <a:rPr lang="en-US" sz="1800"/>
              <a:t>Tehnikaülikool</a:t>
            </a:r>
            <a:endParaRPr lang="et-EE" sz="1800"/>
          </a:p>
        </p:txBody>
      </p:sp>
      <p:sp>
        <p:nvSpPr>
          <p:cNvPr id="446232557" name="TextBox 13"/>
          <p:cNvSpPr txBox="1"/>
          <p:nvPr userDrawn="1"/>
        </p:nvSpPr>
        <p:spPr bwMode="auto">
          <a:xfrm>
            <a:off x="8656883" y="6257244"/>
            <a:ext cx="267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t-EE">
                <a:solidFill>
                  <a:srgbClr val="332B60"/>
                </a:solidFill>
                <a:latin typeface="+mn-lt"/>
              </a:rPr>
              <a:t>pp.kk.aaaa</a:t>
            </a:r>
            <a:endParaRPr lang="et-EE">
              <a:solidFill>
                <a:srgbClr val="332B60"/>
              </a:solidFill>
              <a:latin typeface="+mn-lt"/>
            </a:endParaRPr>
          </a:p>
        </p:txBody>
      </p:sp>
      <p:sp>
        <p:nvSpPr>
          <p:cNvPr id="138993554" name="Text Placeholder 1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942276" y="4961733"/>
            <a:ext cx="8892396" cy="4814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1" i="0" cap="all">
                <a:solidFill>
                  <a:schemeClr val="accent3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 sz="3600">
                <a:solidFill>
                  <a:schemeClr val="accent1"/>
                </a:solidFill>
              </a:rPr>
              <a:t>vajadusel kahel real</a:t>
            </a:r>
            <a:endParaRPr lang="et-EE"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ks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927455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4" y="549275"/>
            <a:ext cx="10494517" cy="8108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71507143" name="Text Placeholder 1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171700" y="1628776"/>
            <a:ext cx="8802242" cy="4140200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lang="en-US" sz="180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buClr>
                <a:srgbClr val="E4067E"/>
              </a:buClr>
              <a:defRPr/>
            </a:pPr>
            <a:r>
              <a:rPr lang="en-US" sz="1800">
                <a:solidFill>
                  <a:srgbClr val="332B60"/>
                </a:solidFill>
                <a:latin typeface="+mn-lt"/>
              </a:rPr>
              <a:t>Vivamus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Proin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ces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nulla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amet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lacus.</a:t>
            </a:r>
            <a:endParaRPr/>
          </a:p>
          <a:p>
            <a:pPr lvl="1">
              <a:buClr>
                <a:srgbClr val="E4067E"/>
              </a:buClr>
              <a:buFont typeface="Wingdings"/>
              <a:buChar char="§"/>
              <a:defRPr/>
            </a:pPr>
            <a:r>
              <a:rPr lang="en-US" sz="1800">
                <a:solidFill>
                  <a:srgbClr val="332B60"/>
                </a:solidFill>
              </a:rPr>
              <a:t>Ut</a:t>
            </a:r>
            <a:r>
              <a:rPr lang="en-US" sz="1800">
                <a:solidFill>
                  <a:srgbClr val="332B60"/>
                </a:solidFill>
              </a:rPr>
              <a:t> vitae </a:t>
            </a:r>
            <a:r>
              <a:rPr lang="en-US" sz="1800">
                <a:solidFill>
                  <a:srgbClr val="332B60"/>
                </a:solidFill>
              </a:rPr>
              <a:t>nunc</a:t>
            </a:r>
            <a:r>
              <a:rPr lang="en-US" sz="1800">
                <a:solidFill>
                  <a:srgbClr val="332B60"/>
                </a:solidFill>
              </a:rPr>
              <a:t> non </a:t>
            </a:r>
            <a:r>
              <a:rPr lang="en-US" sz="1800">
                <a:solidFill>
                  <a:srgbClr val="332B60"/>
                </a:solidFill>
              </a:rPr>
              <a:t>pede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tristique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sagittis</a:t>
            </a:r>
            <a:r>
              <a:rPr lang="en-US" sz="1800">
                <a:solidFill>
                  <a:srgbClr val="332B60"/>
                </a:solidFill>
              </a:rPr>
              <a:t>. </a:t>
            </a:r>
            <a:r>
              <a:rPr lang="en-US" sz="1800">
                <a:solidFill>
                  <a:srgbClr val="332B60"/>
                </a:solidFill>
              </a:rPr>
              <a:t>Aliquam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imperdiet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elit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vel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justo</a:t>
            </a:r>
            <a:r>
              <a:rPr lang="en-US" sz="1800">
                <a:solidFill>
                  <a:srgbClr val="332B60"/>
                </a:solidFill>
              </a:rPr>
              <a:t>. </a:t>
            </a:r>
            <a:endParaRPr/>
          </a:p>
          <a:p>
            <a:pPr lvl="2">
              <a:buClr>
                <a:srgbClr val="E4067E"/>
              </a:buClr>
              <a:buFont typeface="Wingdings"/>
              <a:buChar char="§"/>
              <a:defRPr/>
            </a:pPr>
            <a:r>
              <a:rPr lang="en-US" sz="1800">
                <a:solidFill>
                  <a:srgbClr val="332B60"/>
                </a:solidFill>
              </a:rPr>
              <a:t>Quisque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porttitor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imperiandiet</a:t>
            </a:r>
            <a:r>
              <a:rPr lang="en-US" sz="1800">
                <a:solidFill>
                  <a:srgbClr val="332B60"/>
                </a:solidFill>
              </a:rPr>
              <a:t> qua.</a:t>
            </a:r>
            <a:endParaRPr/>
          </a:p>
          <a:p>
            <a:pPr lvl="3">
              <a:buClr>
                <a:srgbClr val="E4067E"/>
              </a:buClr>
              <a:buFont typeface="Wingdings"/>
              <a:buChar char="§"/>
              <a:defRPr/>
            </a:pPr>
            <a:r>
              <a:rPr lang="en-US">
                <a:solidFill>
                  <a:srgbClr val="332B60"/>
                </a:solidFill>
              </a:rPr>
              <a:t>Phasellus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vel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lectus</a:t>
            </a:r>
            <a:r>
              <a:rPr lang="en-US">
                <a:solidFill>
                  <a:srgbClr val="332B60"/>
                </a:solidFill>
              </a:rPr>
              <a:t> at </a:t>
            </a:r>
            <a:r>
              <a:rPr lang="en-US">
                <a:solidFill>
                  <a:srgbClr val="332B60"/>
                </a:solidFill>
              </a:rPr>
              <a:t>orci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ornare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ultrices</a:t>
            </a:r>
            <a:r>
              <a:rPr lang="en-US">
                <a:solidFill>
                  <a:srgbClr val="332B60"/>
                </a:solidFill>
              </a:rPr>
              <a:t>. Viva </a:t>
            </a:r>
            <a:r>
              <a:rPr lang="en-US">
                <a:solidFill>
                  <a:srgbClr val="332B60"/>
                </a:solidFill>
              </a:rPr>
              <a:t>etmus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justo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est</a:t>
            </a:r>
            <a:r>
              <a:rPr lang="en-US">
                <a:solidFill>
                  <a:srgbClr val="332B60"/>
                </a:solidFill>
              </a:rPr>
              <a:t>, </a:t>
            </a:r>
            <a:r>
              <a:rPr lang="en-US">
                <a:solidFill>
                  <a:srgbClr val="332B60"/>
                </a:solidFill>
              </a:rPr>
              <a:t>vulputate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eu</a:t>
            </a:r>
            <a:r>
              <a:rPr lang="et-EE">
                <a:solidFill>
                  <a:srgbClr val="332B60"/>
                </a:solidFill>
              </a:rPr>
              <a:t>.</a:t>
            </a:r>
            <a:endParaRPr/>
          </a:p>
          <a:p>
            <a:pPr lvl="4">
              <a:buClr>
                <a:srgbClr val="E4067E"/>
              </a:buClr>
              <a:buFont typeface="Wingdings"/>
              <a:buChar char="§"/>
              <a:defRPr/>
            </a:pPr>
            <a:r>
              <a:rPr lang="en-US">
                <a:solidFill>
                  <a:srgbClr val="332B60"/>
                </a:solidFill>
              </a:rPr>
              <a:t>Phasellus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vel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lectus</a:t>
            </a:r>
            <a:r>
              <a:rPr lang="en-US">
                <a:solidFill>
                  <a:srgbClr val="332B60"/>
                </a:solidFill>
              </a:rPr>
              <a:t> at </a:t>
            </a:r>
            <a:r>
              <a:rPr lang="en-US">
                <a:solidFill>
                  <a:srgbClr val="332B60"/>
                </a:solidFill>
              </a:rPr>
              <a:t>orci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ornare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ultrices</a:t>
            </a:r>
            <a:r>
              <a:rPr lang="en-US">
                <a:solidFill>
                  <a:srgbClr val="332B60"/>
                </a:solidFill>
              </a:rPr>
              <a:t>. Viva </a:t>
            </a:r>
            <a:r>
              <a:rPr lang="en-US">
                <a:solidFill>
                  <a:srgbClr val="332B60"/>
                </a:solidFill>
              </a:rPr>
              <a:t>etmus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justo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est</a:t>
            </a:r>
            <a:r>
              <a:rPr lang="en-US">
                <a:solidFill>
                  <a:srgbClr val="332B60"/>
                </a:solidFill>
              </a:rPr>
              <a:t>, </a:t>
            </a:r>
            <a:r>
              <a:rPr lang="en-US">
                <a:solidFill>
                  <a:srgbClr val="332B60"/>
                </a:solidFill>
              </a:rPr>
              <a:t>vulputate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eu</a:t>
            </a:r>
            <a:r>
              <a:rPr lang="et-EE">
                <a:solidFill>
                  <a:srgbClr val="332B60"/>
                </a:solidFill>
              </a:rPr>
              <a:t>.</a:t>
            </a:r>
            <a:endParaRPr/>
          </a:p>
          <a:p>
            <a:pPr lvl="5">
              <a:buClr>
                <a:srgbClr val="E4067E"/>
              </a:buClr>
              <a:buFont typeface="Wingdings"/>
              <a:buChar char="§"/>
              <a:defRPr/>
            </a:pPr>
            <a:r>
              <a:rPr lang="en-US">
                <a:solidFill>
                  <a:srgbClr val="332B60"/>
                </a:solidFill>
              </a:rPr>
              <a:t>Phasellus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vel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lectus</a:t>
            </a:r>
            <a:r>
              <a:rPr lang="en-US">
                <a:solidFill>
                  <a:srgbClr val="332B60"/>
                </a:solidFill>
              </a:rPr>
              <a:t> at </a:t>
            </a:r>
            <a:r>
              <a:rPr lang="en-US">
                <a:solidFill>
                  <a:srgbClr val="332B60"/>
                </a:solidFill>
              </a:rPr>
              <a:t>orci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ornare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ultrices</a:t>
            </a:r>
            <a:r>
              <a:rPr lang="en-US">
                <a:solidFill>
                  <a:srgbClr val="332B60"/>
                </a:solidFill>
              </a:rPr>
              <a:t>. Viva </a:t>
            </a:r>
            <a:r>
              <a:rPr lang="en-US">
                <a:solidFill>
                  <a:srgbClr val="332B60"/>
                </a:solidFill>
              </a:rPr>
              <a:t>etmus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justo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est</a:t>
            </a:r>
            <a:r>
              <a:rPr lang="en-US">
                <a:solidFill>
                  <a:srgbClr val="332B60"/>
                </a:solidFill>
              </a:rPr>
              <a:t>, </a:t>
            </a:r>
            <a:r>
              <a:rPr lang="en-US">
                <a:solidFill>
                  <a:srgbClr val="332B60"/>
                </a:solidFill>
              </a:rPr>
              <a:t>vulputate</a:t>
            </a:r>
            <a:r>
              <a:rPr lang="en-US">
                <a:solidFill>
                  <a:srgbClr val="332B60"/>
                </a:solidFill>
              </a:rPr>
              <a:t> </a:t>
            </a:r>
            <a:r>
              <a:rPr lang="en-US">
                <a:solidFill>
                  <a:srgbClr val="332B60"/>
                </a:solidFill>
              </a:rPr>
              <a:t>eu</a:t>
            </a:r>
            <a:r>
              <a:rPr lang="et-EE">
                <a:solidFill>
                  <a:srgbClr val="332B60"/>
                </a:solidFill>
              </a:rPr>
              <a:t>.</a:t>
            </a:r>
            <a:endParaRPr lang="en-US">
              <a:solidFill>
                <a:srgbClr val="332B60"/>
              </a:solidFill>
            </a:endParaRPr>
          </a:p>
          <a:p>
            <a:pPr>
              <a:buClr>
                <a:srgbClr val="E4067E"/>
              </a:buClr>
              <a:defRPr/>
            </a:pPr>
            <a:r>
              <a:rPr lang="et-EE" sz="1800">
                <a:solidFill>
                  <a:srgbClr val="332B60"/>
                </a:solidFill>
                <a:latin typeface="+mn-lt"/>
              </a:rPr>
              <a:t>B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ibendum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rutrum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ut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turpis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Sed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velit</a:t>
            </a:r>
            <a:r>
              <a:rPr lang="en-US" sz="1800">
                <a:solidFill>
                  <a:srgbClr val="332B60"/>
                </a:solidFill>
                <a:latin typeface="+mn-lt"/>
              </a:rPr>
              <a:t>. </a:t>
            </a:r>
            <a:endParaRPr/>
          </a:p>
          <a:p>
            <a:pPr lvl="1">
              <a:buClr>
                <a:srgbClr val="E4067E"/>
              </a:buClr>
              <a:buFont typeface="Wingdings"/>
              <a:buChar char="§"/>
              <a:defRPr/>
            </a:pPr>
            <a:r>
              <a:rPr lang="en-US" sz="1800">
                <a:solidFill>
                  <a:srgbClr val="332B60"/>
                </a:solidFill>
              </a:rPr>
              <a:t>Sed</a:t>
            </a:r>
            <a:r>
              <a:rPr lang="en-US" sz="1800">
                <a:solidFill>
                  <a:srgbClr val="332B60"/>
                </a:solidFill>
              </a:rPr>
              <a:t> semper </a:t>
            </a:r>
            <a:r>
              <a:rPr lang="en-US" sz="1800">
                <a:solidFill>
                  <a:srgbClr val="332B60"/>
                </a:solidFill>
              </a:rPr>
              <a:t>augue</a:t>
            </a:r>
            <a:r>
              <a:rPr lang="en-US" sz="1800">
                <a:solidFill>
                  <a:srgbClr val="332B60"/>
                </a:solidFill>
              </a:rPr>
              <a:t>.</a:t>
            </a:r>
            <a:endParaRPr/>
          </a:p>
          <a:p>
            <a:pPr marL="2514600" marR="0" lvl="5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endParaRPr lang="et-EE"/>
          </a:p>
          <a:p>
            <a:pPr marL="2057400" marR="0" lvl="4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endParaRPr lang="et-EE"/>
          </a:p>
          <a:p>
            <a:pPr lvl="2">
              <a:defRPr/>
            </a:pPr>
            <a:endParaRPr lang="et-EE"/>
          </a:p>
          <a:p>
            <a:pPr lvl="0">
              <a:defRPr/>
            </a:pPr>
            <a:endParaRPr lang="et-EE"/>
          </a:p>
        </p:txBody>
      </p:sp>
      <p:sp>
        <p:nvSpPr>
          <p:cNvPr id="1295865374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792053929" name="Straight Connector 4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kst ja graafi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257370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5" y="549275"/>
            <a:ext cx="10494517" cy="8027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  <a:lvl2pPr>
              <a:defRPr sz="2500"/>
            </a:lvl2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717231364" name="Chart Placeholder 13"/>
          <p:cNvSpPr>
            <a:spLocks noGrp="1"/>
          </p:cNvSpPr>
          <p:nvPr>
            <p:ph type="chart" sz="quarter" idx="15"/>
          </p:nvPr>
        </p:nvSpPr>
        <p:spPr bwMode="auto">
          <a:xfrm>
            <a:off x="2183498" y="3244275"/>
            <a:ext cx="8790444" cy="253088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Diagrammi lisamiseks klõpsake ikooni</a:t>
            </a:r>
            <a:endParaRPr lang="en-US"/>
          </a:p>
        </p:txBody>
      </p:sp>
      <p:sp>
        <p:nvSpPr>
          <p:cNvPr id="2109373174" name="Text Placeholder 15"/>
          <p:cNvSpPr>
            <a:spLocks noGrp="1"/>
          </p:cNvSpPr>
          <p:nvPr>
            <p:ph type="body" sz="quarter" idx="16"/>
          </p:nvPr>
        </p:nvSpPr>
        <p:spPr bwMode="auto">
          <a:xfrm>
            <a:off x="2171700" y="2144993"/>
            <a:ext cx="8790444" cy="901807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  <a:latin typeface="Verdana"/>
              </a:defRPr>
            </a:lvl1pPr>
            <a:lvl2pPr marL="742950" indent="-28575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 marL="1371600" indent="0">
              <a:buFont typeface="Verdana"/>
              <a:buNone/>
              <a:defRPr/>
            </a:lvl4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  <a:p>
            <a:pPr lvl="1">
              <a:defRPr/>
            </a:pPr>
            <a:r>
              <a:rPr lang="et-EE"/>
              <a:t>Redigeeri teksti</a:t>
            </a:r>
            <a:endParaRPr/>
          </a:p>
          <a:p>
            <a:pPr lvl="2">
              <a:defRPr/>
            </a:pPr>
            <a:r>
              <a:rPr lang="et-EE"/>
              <a:t>Redigeeri teksti</a:t>
            </a:r>
            <a:endParaRPr/>
          </a:p>
          <a:p>
            <a:pPr lvl="2">
              <a:defRPr/>
            </a:pPr>
            <a:endParaRPr lang="et-EE"/>
          </a:p>
        </p:txBody>
      </p:sp>
      <p:sp>
        <p:nvSpPr>
          <p:cNvPr id="1477125850" name="Text Placeholder 11"/>
          <p:cNvSpPr>
            <a:spLocks noGrp="1"/>
          </p:cNvSpPr>
          <p:nvPr>
            <p:ph type="body" sz="quarter" idx="18"/>
          </p:nvPr>
        </p:nvSpPr>
        <p:spPr bwMode="auto">
          <a:xfrm>
            <a:off x="2171700" y="1628776"/>
            <a:ext cx="8790444" cy="41366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/>
              <a:buNone/>
              <a:defRPr sz="1800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</p:txBody>
      </p:sp>
      <p:sp>
        <p:nvSpPr>
          <p:cNvPr id="1850378990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1442714547" name="Straight Connector 7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i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310729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4" y="549275"/>
            <a:ext cx="10656887" cy="810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1194040576" name="Text Placeholder 11"/>
          <p:cNvSpPr>
            <a:spLocks noGrp="1"/>
          </p:cNvSpPr>
          <p:nvPr>
            <p:ph type="body" sz="quarter" idx="14"/>
          </p:nvPr>
        </p:nvSpPr>
        <p:spPr bwMode="auto">
          <a:xfrm>
            <a:off x="2171700" y="1628776"/>
            <a:ext cx="8964612" cy="388032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800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</p:txBody>
      </p:sp>
      <p:sp>
        <p:nvSpPr>
          <p:cNvPr id="209269276" name="Picture Placeholder 2"/>
          <p:cNvSpPr>
            <a:spLocks noGrp="1"/>
          </p:cNvSpPr>
          <p:nvPr>
            <p:ph type="pic" sz="quarter" idx="16"/>
          </p:nvPr>
        </p:nvSpPr>
        <p:spPr bwMode="auto">
          <a:xfrm>
            <a:off x="2171700" y="2196270"/>
            <a:ext cx="8964613" cy="3572706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>
              <a:defRPr/>
            </a:pPr>
            <a:r>
              <a:rPr lang="et-EE"/>
              <a:t>Pildi lisamiseks klõpsake ikooni</a:t>
            </a:r>
            <a:endParaRPr lang="en-US"/>
          </a:p>
        </p:txBody>
      </p:sp>
      <p:sp>
        <p:nvSpPr>
          <p:cNvPr id="1278281445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78785432" name="Straight Connector 5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kst ja graafik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411751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7" y="549275"/>
            <a:ext cx="6109380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1205559106" name="Chart Placeholder 13"/>
          <p:cNvSpPr>
            <a:spLocks noGrp="1"/>
          </p:cNvSpPr>
          <p:nvPr>
            <p:ph type="chart" sz="quarter" idx="15"/>
          </p:nvPr>
        </p:nvSpPr>
        <p:spPr bwMode="auto"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>
              <a:defRPr/>
            </a:pPr>
            <a:r>
              <a:rPr lang="et-EE"/>
              <a:t>Diagrammi lisamiseks klõpsake ikooni</a:t>
            </a:r>
            <a:endParaRPr lang="en-US"/>
          </a:p>
        </p:txBody>
      </p:sp>
      <p:sp>
        <p:nvSpPr>
          <p:cNvPr id="703317895" name="Text Placeholder 11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  <a:latin typeface="Verdana"/>
              </a:defRPr>
            </a:lvl1pPr>
            <a:lvl2pPr marL="685800" indent="-22860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7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  <a:p>
            <a:pPr lvl="1">
              <a:defRPr/>
            </a:pPr>
            <a:r>
              <a:rPr lang="et-EE"/>
              <a:t>Redigeeri teksti</a:t>
            </a:r>
            <a:endParaRPr/>
          </a:p>
          <a:p>
            <a:pPr lvl="2">
              <a:defRPr/>
            </a:pPr>
            <a:r>
              <a:rPr lang="et-EE"/>
              <a:t>Redigeeri teksti</a:t>
            </a:r>
            <a:endParaRPr/>
          </a:p>
          <a:p>
            <a:pPr marL="1600200" marR="0" lvl="3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</a:t>
            </a:r>
            <a:endParaRPr/>
          </a:p>
          <a:p>
            <a:pPr marL="2057400" marR="0" lvl="4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</a:t>
            </a:r>
            <a:endParaRPr/>
          </a:p>
          <a:p>
            <a:pPr marL="2514600" marR="0" lvl="5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</a:t>
            </a:r>
            <a:endParaRPr/>
          </a:p>
          <a:p>
            <a:pPr marL="2971800" marR="0" lvl="6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 </a:t>
            </a:r>
            <a:endParaRPr/>
          </a:p>
        </p:txBody>
      </p:sp>
      <p:sp>
        <p:nvSpPr>
          <p:cNvPr id="1639896030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113255778" name="Straight Connector 5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kst ja pi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14629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5" y="549275"/>
            <a:ext cx="6044006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  <a:lvl2pPr>
              <a:defRPr sz="2200" b="1" i="0"/>
            </a:lvl2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522356696" name="Picture Placeholder 19"/>
          <p:cNvSpPr>
            <a:spLocks noGrp="1"/>
          </p:cNvSpPr>
          <p:nvPr>
            <p:ph type="pic" sz="quarter" idx="17"/>
          </p:nvPr>
        </p:nvSpPr>
        <p:spPr bwMode="auto"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Pildi lisamiseks klõpsake ikooni</a:t>
            </a:r>
            <a:endParaRPr lang="en-US"/>
          </a:p>
        </p:txBody>
      </p:sp>
      <p:sp>
        <p:nvSpPr>
          <p:cNvPr id="1226062251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1094914041" name="Straight Connector 5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234983" name="Text Placeholder 11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  <a:latin typeface="Verdana"/>
              </a:defRPr>
            </a:lvl1pPr>
            <a:lvl2pPr marL="685800" indent="-22860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7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  <a:p>
            <a:pPr lvl="1">
              <a:defRPr/>
            </a:pPr>
            <a:r>
              <a:rPr lang="et-EE"/>
              <a:t>Redigeeri teksti</a:t>
            </a:r>
            <a:endParaRPr/>
          </a:p>
          <a:p>
            <a:pPr lvl="2">
              <a:defRPr/>
            </a:pPr>
            <a:r>
              <a:rPr lang="et-EE"/>
              <a:t>Redigeeri teksti</a:t>
            </a:r>
            <a:endParaRPr/>
          </a:p>
          <a:p>
            <a:pPr marL="1600200" marR="0" lvl="3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</a:t>
            </a:r>
            <a:endParaRPr/>
          </a:p>
          <a:p>
            <a:pPr marL="2057400" marR="0" lvl="4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</a:t>
            </a:r>
            <a:endParaRPr/>
          </a:p>
          <a:p>
            <a:pPr marL="2514600" marR="0" lvl="5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</a:t>
            </a:r>
            <a:endParaRPr/>
          </a:p>
          <a:p>
            <a:pPr marL="2971800" marR="0" lvl="6" indent="-285750" algn="l" defTabSz="91440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/>
            </a:pPr>
            <a:r>
              <a:rPr lang="et-EE"/>
              <a:t>Redigeeri teksti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graafik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652819" name="Text Placeholder 11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171700" y="5204389"/>
            <a:ext cx="4351731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800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</p:txBody>
      </p:sp>
      <p:sp>
        <p:nvSpPr>
          <p:cNvPr id="3830358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5" y="558471"/>
            <a:ext cx="10656888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1679563646" name="Text Placeholder 11"/>
          <p:cNvSpPr>
            <a:spLocks noGrp="1"/>
          </p:cNvSpPr>
          <p:nvPr>
            <p:ph type="body" sz="quarter" idx="21"/>
          </p:nvPr>
        </p:nvSpPr>
        <p:spPr bwMode="auto">
          <a:xfrm>
            <a:off x="6888164" y="5204389"/>
            <a:ext cx="4248542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800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</p:txBody>
      </p:sp>
      <p:sp>
        <p:nvSpPr>
          <p:cNvPr id="693423173" name="Chart Placeholder 2"/>
          <p:cNvSpPr>
            <a:spLocks noGrp="1"/>
          </p:cNvSpPr>
          <p:nvPr>
            <p:ph type="chart" sz="quarter" idx="22"/>
          </p:nvPr>
        </p:nvSpPr>
        <p:spPr bwMode="auto">
          <a:xfrm>
            <a:off x="2171701" y="1628776"/>
            <a:ext cx="4351338" cy="333633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Diagrammi lisamiseks klõpsake ikooni</a:t>
            </a:r>
            <a:endParaRPr lang="en-US"/>
          </a:p>
        </p:txBody>
      </p:sp>
      <p:sp>
        <p:nvSpPr>
          <p:cNvPr id="1548101585" name="Chart Placeholder 4"/>
          <p:cNvSpPr>
            <a:spLocks noGrp="1"/>
          </p:cNvSpPr>
          <p:nvPr>
            <p:ph type="chart" sz="quarter" idx="23" hasCustomPrompt="1"/>
          </p:nvPr>
        </p:nvSpPr>
        <p:spPr bwMode="auto">
          <a:xfrm>
            <a:off x="6888163" y="1628775"/>
            <a:ext cx="4248150" cy="33363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Diagrammi lisamiseks klõpsake ikooni</a:t>
            </a:r>
            <a:endParaRPr lang="en-US"/>
          </a:p>
        </p:txBody>
      </p:sp>
      <p:sp>
        <p:nvSpPr>
          <p:cNvPr id="141753753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1995374725" name="Straight Connector 8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kolm pil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610814" name="Picture Placeholder 19"/>
          <p:cNvSpPr>
            <a:spLocks noGrp="1"/>
          </p:cNvSpPr>
          <p:nvPr>
            <p:ph type="pic" sz="quarter" idx="17"/>
          </p:nvPr>
        </p:nvSpPr>
        <p:spPr bwMode="auto">
          <a:xfrm>
            <a:off x="2171700" y="549276"/>
            <a:ext cx="5109317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Pildi lisamiseks klõpsake ikooni</a:t>
            </a:r>
            <a:endParaRPr lang="en-US"/>
          </a:p>
        </p:txBody>
      </p:sp>
      <p:sp>
        <p:nvSpPr>
          <p:cNvPr id="280794589" name="Picture Placeholder 19"/>
          <p:cNvSpPr>
            <a:spLocks noGrp="1"/>
          </p:cNvSpPr>
          <p:nvPr>
            <p:ph type="pic" sz="quarter" idx="19"/>
          </p:nvPr>
        </p:nvSpPr>
        <p:spPr bwMode="auto">
          <a:xfrm>
            <a:off x="7511753" y="3459344"/>
            <a:ext cx="3624561" cy="23096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Pildi lisamiseks klõpsake ikooni</a:t>
            </a:r>
            <a:endParaRPr lang="en-US"/>
          </a:p>
        </p:txBody>
      </p:sp>
      <p:sp>
        <p:nvSpPr>
          <p:cNvPr id="433018239" name="Picture Placeholder 19"/>
          <p:cNvSpPr>
            <a:spLocks noGrp="1"/>
          </p:cNvSpPr>
          <p:nvPr>
            <p:ph type="pic" sz="quarter" idx="20"/>
          </p:nvPr>
        </p:nvSpPr>
        <p:spPr bwMode="auto">
          <a:xfrm>
            <a:off x="7511753" y="549275"/>
            <a:ext cx="3624561" cy="27095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Pildi lisamiseks klõpsake ikooni</a:t>
            </a:r>
            <a:endParaRPr lang="en-US"/>
          </a:p>
        </p:txBody>
      </p:sp>
      <p:sp>
        <p:nvSpPr>
          <p:cNvPr id="1841149629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442839952" name="Straight Connector 8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ab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723627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5" y="551545"/>
            <a:ext cx="10656888" cy="8366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  <a:lvl2pPr>
              <a:defRPr sz="2500" b="1" i="0"/>
            </a:lvl2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640062833" name="Table Placeholder 6"/>
          <p:cNvSpPr>
            <a:spLocks noGrp="1"/>
          </p:cNvSpPr>
          <p:nvPr>
            <p:ph type="tbl" sz="quarter" idx="23"/>
          </p:nvPr>
        </p:nvSpPr>
        <p:spPr bwMode="auto">
          <a:xfrm>
            <a:off x="2171700" y="1628776"/>
            <a:ext cx="8964613" cy="414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Tabeli lisamiseks klõpsake ikooni</a:t>
            </a:r>
            <a:endParaRPr lang="en-US"/>
          </a:p>
        </p:txBody>
      </p:sp>
      <p:sp>
        <p:nvSpPr>
          <p:cNvPr id="1429748068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182464864" name="Straight Connector 8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ilt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796007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5" y="549275"/>
            <a:ext cx="10656885" cy="84441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</a:t>
            </a:r>
            <a:endParaRPr/>
          </a:p>
          <a:p>
            <a:pPr lvl="0">
              <a:defRPr/>
            </a:pPr>
            <a:r>
              <a:rPr lang="et-EE"/>
              <a:t>Vajadusel kahel real</a:t>
            </a:r>
            <a:endParaRPr lang="en-US"/>
          </a:p>
        </p:txBody>
      </p:sp>
      <p:sp>
        <p:nvSpPr>
          <p:cNvPr id="2106882071" name="Text Placeholder 1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171700" y="1628775"/>
            <a:ext cx="8964612" cy="627315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800">
                <a:solidFill>
                  <a:srgbClr val="332B60"/>
                </a:solidFill>
                <a:latin typeface="Verdana"/>
              </a:defRPr>
            </a:lvl1pPr>
          </a:lstStyle>
          <a:p>
            <a:pPr lvl="0">
              <a:defRPr/>
            </a:pPr>
            <a:r>
              <a:rPr lang="et-EE"/>
              <a:t>Redigeeri juhtslaidi tekstilaade</a:t>
            </a:r>
            <a:endParaRPr/>
          </a:p>
        </p:txBody>
      </p:sp>
      <p:sp>
        <p:nvSpPr>
          <p:cNvPr id="1497373778" name="Picture Placeholder 2"/>
          <p:cNvSpPr>
            <a:spLocks noGrp="1"/>
          </p:cNvSpPr>
          <p:nvPr>
            <p:ph type="pic" sz="quarter" idx="16"/>
          </p:nvPr>
        </p:nvSpPr>
        <p:spPr bwMode="auto">
          <a:xfrm>
            <a:off x="2171700" y="2491176"/>
            <a:ext cx="8964611" cy="32778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>
              <a:defRPr/>
            </a:pPr>
            <a:r>
              <a:rPr lang="et-EE"/>
              <a:t>Pildi lisamiseks klõpsake ikooni</a:t>
            </a:r>
            <a:endParaRPr lang="en-US"/>
          </a:p>
        </p:txBody>
      </p:sp>
      <p:sp>
        <p:nvSpPr>
          <p:cNvPr id="673183610" name="Text Placeholder 1"/>
          <p:cNvSpPr txBox="1"/>
          <p:nvPr userDrawn="1"/>
        </p:nvSpPr>
        <p:spPr bwMode="auto"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chemeClr val="accent2"/>
                </a:solidFill>
                <a:latin typeface="Verdana"/>
                <a:ea typeface="+mn-ea"/>
                <a:cs typeface="+mn-cs"/>
              </a:defRPr>
            </a:lvl1pPr>
            <a:lvl2pPr marL="6858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t-EE" sz="1200" b="0"/>
              <a:t>TALLINNA TEHNIKAÜLIKOOL</a:t>
            </a:r>
            <a:endParaRPr lang="en-US" sz="1200" b="0"/>
          </a:p>
        </p:txBody>
      </p:sp>
      <p:cxnSp>
        <p:nvCxnSpPr>
          <p:cNvPr id="167950549" name="Straight Connector 8"/>
          <p:cNvCxnSpPr/>
          <p:nvPr userDrawn="1"/>
        </p:nvCxnSpPr>
        <p:spPr bwMode="auto"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vaheslai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9697756" name="Picture 13"/>
          <p:cNvPicPr>
            <a:picLocks noChangeAspect="1"/>
          </p:cNvPicPr>
          <p:nvPr userDrawn="1"/>
        </p:nvPicPr>
        <p:blipFill rotWithShape="1">
          <a:blip r:embed="rId2"/>
          <a:srcRect l="-143" t="21094" r="-1" b="21589"/>
          <a:stretch/>
        </p:blipFill>
        <p:spPr bwMode="auto"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164347174" name="Group 1"/>
          <p:cNvGrpSpPr/>
          <p:nvPr userDrawn="1"/>
        </p:nvGrpSpPr>
        <p:grpSpPr bwMode="auto"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7" name="Freeform 6"/>
            <p:cNvSpPr/>
            <p:nvPr userDrawn="1"/>
          </p:nvSpPr>
          <p:spPr bwMode="auto"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 fill="norm" stroke="1" extrusionOk="0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8" name="Picture 3" descr="C:\Users\ipihu\Desktop\logo.png"/>
            <p:cNvPicPr>
              <a:picLocks noChangeAspect="1" noChangeArrowheads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9619967" name="Text Placeholder 19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982403" y="4797922"/>
            <a:ext cx="10159444" cy="199612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1" cap="all">
                <a:solidFill>
                  <a:schemeClr val="accent3"/>
                </a:solidFill>
                <a:latin typeface="Verdana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pPr>
              <a:defRPr/>
            </a:pPr>
            <a:r>
              <a:rPr lang="et-EE" sz="2900">
                <a:solidFill>
                  <a:schemeClr val="tx2"/>
                </a:solidFill>
              </a:rPr>
              <a:t>VaheSLAIDI</a:t>
            </a:r>
            <a:r>
              <a:rPr lang="et-EE" sz="2900">
                <a:solidFill>
                  <a:schemeClr val="tx2"/>
                </a:solidFill>
              </a:rPr>
              <a:t> pealkiri</a:t>
            </a:r>
            <a:endParaRPr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t-EE" sz="2900">
                <a:solidFill>
                  <a:schemeClr val="accent1"/>
                </a:solidFill>
              </a:rPr>
              <a:t>Vajadusel ka KAHEL või kolmel REAL</a:t>
            </a:r>
            <a:endParaRPr lang="en-US" sz="2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viimane slai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34099" name="Picture 17"/>
          <p:cNvPicPr>
            <a:picLocks noChangeAspect="1"/>
          </p:cNvPicPr>
          <p:nvPr userDrawn="1"/>
        </p:nvPicPr>
        <p:blipFill rotWithShape="1">
          <a:blip r:embed="rId2"/>
          <a:srcRect l="-143" t="21094" r="-1" b="21589"/>
          <a:stretch/>
        </p:blipFill>
        <p:spPr bwMode="auto">
          <a:xfrm>
            <a:off x="-15499" y="-23247"/>
            <a:ext cx="12207498" cy="4940618"/>
          </a:xfrm>
          <a:prstGeom prst="rect">
            <a:avLst/>
          </a:prstGeom>
        </p:spPr>
      </p:pic>
      <p:sp>
        <p:nvSpPr>
          <p:cNvPr id="1311485059" name="Freeform 14"/>
          <p:cNvSpPr/>
          <p:nvPr userDrawn="1"/>
        </p:nvSpPr>
        <p:spPr bwMode="auto"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 fill="norm" stroke="1" extrusionOk="0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573297453" name="Picture 15"/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8693884" y="1958640"/>
            <a:ext cx="2447645" cy="1370681"/>
          </a:xfrm>
          <a:prstGeom prst="rect">
            <a:avLst/>
          </a:prstGeom>
        </p:spPr>
      </p:pic>
      <p:sp>
        <p:nvSpPr>
          <p:cNvPr id="888321796" name="TextBox 4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26839635" name="Text Placeholder 19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982403" y="4797922"/>
            <a:ext cx="10159444" cy="163897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1" cap="all">
                <a:solidFill>
                  <a:srgbClr val="332B60"/>
                </a:solidFill>
                <a:latin typeface="Verdana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pPr>
              <a:defRPr/>
            </a:pPr>
            <a:r>
              <a:rPr lang="en-US"/>
              <a:t>TALLINN</a:t>
            </a:r>
            <a:r>
              <a:rPr lang="et-EE"/>
              <a:t>A</a:t>
            </a:r>
            <a:r>
              <a:rPr lang="en-US"/>
              <a:t> </a:t>
            </a:r>
            <a:r>
              <a:rPr lang="et-EE"/>
              <a:t>TEHNIKAÜLIKOOL</a:t>
            </a:r>
            <a:endParaRPr lang="en-US"/>
          </a:p>
          <a:p>
            <a:pPr>
              <a:defRPr/>
            </a:pPr>
            <a:r>
              <a:rPr lang="en-US" sz="1700" b="0" cap="none">
                <a:solidFill>
                  <a:schemeClr val="accent2"/>
                </a:solidFill>
              </a:rPr>
              <a:t>Ehitajate</a:t>
            </a:r>
            <a:r>
              <a:rPr lang="en-US" sz="1700" b="0" cap="none">
                <a:solidFill>
                  <a:schemeClr val="accent2"/>
                </a:solidFill>
              </a:rPr>
              <a:t> </a:t>
            </a:r>
            <a:r>
              <a:rPr lang="et-EE" sz="1700" b="0" cap="none">
                <a:solidFill>
                  <a:schemeClr val="accent2"/>
                </a:solidFill>
              </a:rPr>
              <a:t>tee</a:t>
            </a:r>
            <a:r>
              <a:rPr lang="en-US" sz="1700" b="0" cap="none">
                <a:solidFill>
                  <a:schemeClr val="accent2"/>
                </a:solidFill>
              </a:rPr>
              <a:t> 5, 19086 Tallinn</a:t>
            </a:r>
            <a:r>
              <a:rPr lang="et-EE" sz="1700" b="0" cap="none">
                <a:solidFill>
                  <a:schemeClr val="accent2"/>
                </a:solidFill>
              </a:rPr>
              <a:t>, </a:t>
            </a:r>
            <a:endParaRPr/>
          </a:p>
          <a:p>
            <a:pPr>
              <a:defRPr/>
            </a:pPr>
            <a:r>
              <a:rPr lang="et-EE" sz="1700" b="0" cap="none">
                <a:solidFill>
                  <a:schemeClr val="accent2"/>
                </a:solidFill>
              </a:rPr>
              <a:t>Tel </a:t>
            </a:r>
            <a:r>
              <a:rPr lang="en-US" sz="1700" b="0" cap="none">
                <a:solidFill>
                  <a:schemeClr val="accent2"/>
                </a:solidFill>
              </a:rPr>
              <a:t>620 2002 (</a:t>
            </a:r>
            <a:r>
              <a:rPr lang="et-EE" sz="1700" b="0" cap="none">
                <a:solidFill>
                  <a:schemeClr val="accent2"/>
                </a:solidFill>
              </a:rPr>
              <a:t>E-R</a:t>
            </a:r>
            <a:r>
              <a:rPr lang="en-US" sz="1700" b="0" cap="none">
                <a:solidFill>
                  <a:schemeClr val="accent2"/>
                </a:solidFill>
              </a:rPr>
              <a:t> 8.30–</a:t>
            </a:r>
            <a:r>
              <a:rPr lang="et-EE" sz="1700" b="0" cap="none">
                <a:solidFill>
                  <a:schemeClr val="accent2"/>
                </a:solidFill>
              </a:rPr>
              <a:t>17</a:t>
            </a:r>
            <a:r>
              <a:rPr lang="en-US" sz="1700" b="0" cap="none">
                <a:solidFill>
                  <a:schemeClr val="accent2"/>
                </a:solidFill>
              </a:rPr>
              <a:t>.00</a:t>
            </a:r>
            <a:r>
              <a:rPr lang="et-EE" sz="1700" b="0" cap="none">
                <a:solidFill>
                  <a:schemeClr val="accent2"/>
                </a:solidFill>
              </a:rPr>
              <a:t>)</a:t>
            </a:r>
            <a:endParaRPr lang="en-US" sz="1700" cap="none">
              <a:solidFill>
                <a:schemeClr val="accent2"/>
              </a:solidFill>
            </a:endParaRPr>
          </a:p>
          <a:p>
            <a:pPr>
              <a:defRPr/>
            </a:pPr>
            <a:r>
              <a:rPr lang="en-US" sz="1700" cap="none">
                <a:solidFill>
                  <a:schemeClr val="accent2"/>
                </a:solidFill>
                <a:latin typeface="Verdana"/>
              </a:rPr>
              <a:t>t</a:t>
            </a:r>
            <a:r>
              <a:rPr lang="et-EE" sz="1700" cap="none">
                <a:solidFill>
                  <a:schemeClr val="accent2"/>
                </a:solidFill>
                <a:latin typeface="Verdana"/>
              </a:rPr>
              <a:t>altech</a:t>
            </a:r>
            <a:r>
              <a:rPr lang="en-US" sz="1700" cap="none">
                <a:solidFill>
                  <a:schemeClr val="accent2"/>
                </a:solidFill>
                <a:latin typeface="Verdana"/>
              </a:rPr>
              <a:t>.</a:t>
            </a:r>
            <a:r>
              <a:rPr lang="en-US" sz="1700" cap="none">
                <a:solidFill>
                  <a:schemeClr val="accent2"/>
                </a:solidFill>
                <a:latin typeface="Verdana"/>
              </a:rPr>
              <a:t>ee</a:t>
            </a:r>
            <a:endParaRPr lang="en-US" sz="1700" cap="none"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2225927" name="Pilt 3"/>
          <p:cNvPicPr>
            <a:picLocks noChangeAspect="1"/>
          </p:cNvPicPr>
          <p:nvPr userDrawn="1"/>
        </p:nvPicPr>
        <p:blipFill rotWithShape="1">
          <a:blip r:embed="rId14"/>
          <a:srcRect l="11835" t="19052" r="15650" b="26171"/>
          <a:stretch/>
        </p:blipFill>
        <p:spPr bwMode="auto">
          <a:xfrm>
            <a:off x="462334" y="5732250"/>
            <a:ext cx="1085205" cy="64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1" ftr="0" hdr="0" sldNum="0"/>
  <p:txStyles>
    <p:titleStyle>
      <a:lvl1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Verdana"/>
        </a:defRPr>
      </a:lvl2pPr>
      <a:lvl3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Verdana"/>
        </a:defRPr>
      </a:lvl3pPr>
      <a:lvl4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Verdana"/>
        </a:defRPr>
      </a:lvl4pPr>
      <a:lvl5pPr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Verdana"/>
        </a:defRPr>
      </a:lvl5pPr>
      <a:lvl6pPr marL="4572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6pPr>
      <a:lvl7pPr marL="9144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7pPr>
      <a:lvl8pPr marL="13716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8pPr>
      <a:lvl9pPr marL="1828800" algn="l" rtl="0">
        <a:lnSpc>
          <a:spcPct val="90000"/>
        </a:lnSpc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>
        <a:lnSpc>
          <a:spcPct val="90000"/>
        </a:lnSpc>
        <a:spcBef>
          <a:spcPts val="1000"/>
        </a:spcBef>
        <a:spcAft>
          <a:spcPts val="0"/>
        </a:spcAft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>
        <a:lnSpc>
          <a:spcPct val="90000"/>
        </a:lnSpc>
        <a:spcBef>
          <a:spcPts val="500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1290723" name="Picture 8"/>
          <p:cNvPicPr>
            <a:picLocks noChangeAspect="1"/>
          </p:cNvPicPr>
          <p:nvPr/>
        </p:nvPicPr>
        <p:blipFill rotWithShape="1">
          <a:blip r:embed="rId3"/>
          <a:srcRect l="-143" t="21864" r="28" b="21504"/>
          <a:stretch/>
        </p:blipFill>
        <p:spPr bwMode="auto">
          <a:xfrm>
            <a:off x="-22991" y="0"/>
            <a:ext cx="12211607" cy="4876251"/>
          </a:xfrm>
          <a:prstGeom prst="rect">
            <a:avLst/>
          </a:prstGeom>
        </p:spPr>
      </p:pic>
      <p:grpSp>
        <p:nvGrpSpPr>
          <p:cNvPr id="49578936" name="Group 2"/>
          <p:cNvGrpSpPr/>
          <p:nvPr/>
        </p:nvGrpSpPr>
        <p:grpSpPr bwMode="auto">
          <a:xfrm>
            <a:off x="-1" y="1958640"/>
            <a:ext cx="12192000" cy="4899360"/>
            <a:chOff x="-1" y="1958640"/>
            <a:chExt cx="12192000" cy="4899360"/>
          </a:xfrm>
        </p:grpSpPr>
        <p:sp>
          <p:nvSpPr>
            <p:cNvPr id="10" name="Freeform 9"/>
            <p:cNvSpPr/>
            <p:nvPr/>
          </p:nvSpPr>
          <p:spPr bwMode="auto"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 fill="norm" stroke="1" extrusionOk="0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8677555" y="1958640"/>
              <a:ext cx="2447645" cy="1370681"/>
            </a:xfrm>
            <a:prstGeom prst="rect">
              <a:avLst/>
            </a:prstGeom>
          </p:spPr>
        </p:pic>
      </p:grpSp>
      <p:sp>
        <p:nvSpPr>
          <p:cNvPr id="555603138" name="Teksti kohatäide 4"/>
          <p:cNvSpPr>
            <a:spLocks noGrp="1"/>
          </p:cNvSpPr>
          <p:nvPr>
            <p:ph type="body" sz="quarter" idx="12"/>
          </p:nvPr>
        </p:nvSpPr>
        <p:spPr bwMode="auto">
          <a:xfrm>
            <a:off x="953642" y="4457129"/>
            <a:ext cx="8083996" cy="1205366"/>
          </a:xfrm>
        </p:spPr>
        <p:txBody>
          <a:bodyPr/>
          <a:lstStyle/>
          <a:p>
            <a:pPr>
              <a:defRPr/>
            </a:pPr>
            <a:r>
              <a:rPr lang="et-EE" sz="3600" b="1" i="0" u="none" strike="noStrike" cap="all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eDelivery SML ja SMP kasutamine eFTI süsteemis</a:t>
            </a:r>
            <a:endParaRPr/>
          </a:p>
        </p:txBody>
      </p:sp>
      <p:sp>
        <p:nvSpPr>
          <p:cNvPr id="910784564" name="Teksti kohatäide 5"/>
          <p:cNvSpPr>
            <a:spLocks noGrp="1"/>
          </p:cNvSpPr>
          <p:nvPr>
            <p:ph type="body" sz="quarter" idx="13"/>
          </p:nvPr>
        </p:nvSpPr>
        <p:spPr bwMode="auto">
          <a:xfrm flipH="0" flipV="0">
            <a:off x="958719" y="5498377"/>
            <a:ext cx="6884137" cy="91144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t-EE" sz="1800">
                <a:solidFill>
                  <a:srgbClr val="332B60"/>
                </a:solidFill>
              </a:rPr>
              <a:t>Autor: Rihard Rivis</a:t>
            </a:r>
            <a:endParaRPr lang="et-EE" sz="1800">
              <a:solidFill>
                <a:srgbClr val="332B6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t-EE" sz="1800">
                <a:solidFill>
                  <a:srgbClr val="332B60"/>
                </a:solidFill>
              </a:rPr>
              <a:t>Juhendaja: Ulrika Hurt, Kaasjuhendaja: Tarvo Treier</a:t>
            </a:r>
            <a:endParaRPr lang="et-EE" sz="1800">
              <a:solidFill>
                <a:srgbClr val="332B6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br>
              <a:rPr lang="et-EE" sz="1800">
                <a:solidFill>
                  <a:srgbClr val="332B60"/>
                </a:solidFill>
              </a:rPr>
            </a:b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Infotehnoloogia teaduskond</a:t>
            </a:r>
            <a:endParaRPr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800">
                <a:solidFill>
                  <a:srgbClr val="332B60"/>
                </a:solidFill>
              </a:rPr>
              <a:t>Tallinna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>
                <a:solidFill>
                  <a:srgbClr val="332B60"/>
                </a:solidFill>
              </a:rPr>
              <a:t>Tehnikaülikool</a:t>
            </a:r>
            <a:endParaRPr lang="et-EE" sz="1800">
              <a:solidFill>
                <a:srgbClr val="332B60"/>
              </a:solidFill>
            </a:endParaRPr>
          </a:p>
        </p:txBody>
      </p:sp>
      <p:sp>
        <p:nvSpPr>
          <p:cNvPr id="617176677" name="TextBox 17"/>
          <p:cNvSpPr txBox="1"/>
          <p:nvPr/>
        </p:nvSpPr>
        <p:spPr bwMode="auto">
          <a:xfrm>
            <a:off x="8656882" y="6226763"/>
            <a:ext cx="2679228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t-EE">
                <a:solidFill>
                  <a:srgbClr val="332B60"/>
                </a:solidFill>
                <a:latin typeface="+mn-lt"/>
              </a:rPr>
              <a:t>25.12.2026</a:t>
            </a:r>
            <a:endParaRPr lang="et-EE">
              <a:solidFill>
                <a:srgbClr val="332B6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038069" name="Text Placeholder 1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et-EE">
                <a:solidFill>
                  <a:srgbClr val="332B60"/>
                </a:solidFill>
              </a:rPr>
              <a:t>Mida see tähendab?</a:t>
            </a:r>
            <a:endParaRPr/>
          </a:p>
          <a:p>
            <a:pPr>
              <a:defRPr/>
            </a:pPr>
            <a:endParaRPr lang="en-US">
              <a:solidFill>
                <a:srgbClr val="332B60"/>
              </a:solidFill>
            </a:endParaRPr>
          </a:p>
        </p:txBody>
      </p:sp>
      <p:sp>
        <p:nvSpPr>
          <p:cNvPr id="762710438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479423" y="1360162"/>
            <a:ext cx="8802242" cy="4040505"/>
          </a:xfrm>
        </p:spPr>
        <p:txBody>
          <a:bodyPr/>
          <a:lstStyle/>
          <a:p>
            <a:pPr marL="457200" lvl="1" indent="0">
              <a:buClr>
                <a:srgbClr val="E4067E"/>
              </a:buClr>
              <a:buFont typeface="Wingdings"/>
              <a:buNone/>
              <a:defRPr/>
            </a:pPr>
            <a:r>
              <a:rPr lang="et-EE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Pealkiri</a:t>
            </a: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: eDelivery SML ja SMP kasutamine eFTI süsteemis</a:t>
            </a:r>
            <a:endParaRPr/>
          </a:p>
          <a:p>
            <a:pPr marL="457200" lvl="1" indent="0">
              <a:buClr>
                <a:srgbClr val="E4067E"/>
              </a:buClr>
              <a:buFont typeface="Wingdings"/>
              <a:buNone/>
              <a:defRPr/>
            </a:pPr>
            <a:endParaRPr/>
          </a:p>
          <a:p>
            <a:pPr lvl="1">
              <a:defRPr/>
            </a:pP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eFTI? - EL ülene projekt mille eesmärk on digitaliseerida veoinfo vahetus asutuste vahel</a:t>
            </a: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.</a:t>
            </a:r>
            <a:endParaRPr lang="et-EE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 lvl="1">
              <a:defRPr/>
            </a:pPr>
            <a:endParaRPr lang="et-EE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 lvl="1">
              <a:defRPr/>
            </a:pP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eDelivery? - Euroopa liidu standardne andmevahetus lahendus.</a:t>
            </a:r>
            <a:endParaRPr lang="et-EE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 lvl="1">
              <a:defRPr/>
            </a:pPr>
            <a:endParaRPr lang="et-EE" sz="1800" b="0" i="0" u="none" strike="noStrike" cap="none" spc="0">
              <a:solidFill>
                <a:srgbClr val="332B60"/>
              </a:solidFill>
              <a:latin typeface="Verdana"/>
              <a:cs typeface="Verdana"/>
            </a:endParaRPr>
          </a:p>
          <a:p>
            <a:pPr lvl="1">
              <a:defRPr/>
            </a:pP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SML/SMP? - Teenuse metaandmete leidja ja otsija.</a:t>
            </a:r>
            <a:endParaRPr lang="et-EE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 lvl="1">
              <a:defRPr/>
            </a:pPr>
            <a:endParaRPr lang="et-EE" sz="1800" b="0" i="0" u="none" strike="noStrike" cap="none" spc="0">
              <a:solidFill>
                <a:srgbClr val="332B60"/>
              </a:solidFill>
              <a:latin typeface="Verdana"/>
              <a:cs typeface="Verdana"/>
            </a:endParaRPr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75117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Efti arhitektuur</a:t>
            </a:r>
            <a:endParaRPr/>
          </a:p>
        </p:txBody>
      </p:sp>
      <p:pic>
        <p:nvPicPr>
          <p:cNvPr id="8730821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70660" y="1223056"/>
            <a:ext cx="8839199" cy="4305299"/>
          </a:xfrm>
          <a:prstGeom prst="rect">
            <a:avLst/>
          </a:prstGeom>
        </p:spPr>
      </p:pic>
      <p:sp>
        <p:nvSpPr>
          <p:cNvPr id="807760327" name=""/>
          <p:cNvSpPr txBox="1"/>
          <p:nvPr/>
        </p:nvSpPr>
        <p:spPr bwMode="auto">
          <a:xfrm rot="0" flipH="0" flipV="0">
            <a:off x="5890260" y="3246120"/>
            <a:ext cx="411478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￼</a:t>
            </a:r>
            <a:endParaRPr/>
          </a:p>
        </p:txBody>
      </p:sp>
      <p:sp>
        <p:nvSpPr>
          <p:cNvPr id="77667652" name=""/>
          <p:cNvSpPr txBox="1"/>
          <p:nvPr/>
        </p:nvSpPr>
        <p:spPr bwMode="auto">
          <a:xfrm rot="0" flipH="0" flipV="0">
            <a:off x="5890260" y="3246120"/>
            <a:ext cx="411478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￼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103029579" name=""/>
          <p:cNvSpPr txBox="1"/>
          <p:nvPr/>
        </p:nvSpPr>
        <p:spPr bwMode="auto">
          <a:xfrm rot="0" flipH="0" flipV="0">
            <a:off x="1470660" y="5510892"/>
            <a:ext cx="30999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t-EE" sz="1200"/>
              <a:t>Allikas: </a:t>
            </a:r>
            <a:r>
              <a:rPr lang="et-EE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https://www.dlk.ee/efti-ecosystem/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425054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n-US" sz="2200" b="1" i="0" u="none" strike="noStrike" cap="all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t-EE"/>
              <a:t>probleem</a:t>
            </a:r>
            <a:endParaRPr/>
          </a:p>
        </p:txBody>
      </p:sp>
      <p:sp>
        <p:nvSpPr>
          <p:cNvPr id="1290207665" name="Text Placeholder 1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79423" y="1360162"/>
            <a:ext cx="8802241" cy="414019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lang="en-US" sz="180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5pPr>
            <a:lvl6pPr marL="2514599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defRPr/>
            </a:pPr>
            <a:r>
              <a:rPr lang="en-US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eFTI kasutamine muutub EL liikmesriikidele </a:t>
            </a:r>
            <a:r>
              <a:rPr lang="en-US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kohustuslikuks aastal 2027</a:t>
            </a:r>
            <a:endParaRPr lang="en-US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rgbClr val="332B60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eFTI juurutamiseks on loodud mitu </a:t>
            </a:r>
            <a:r>
              <a:rPr lang="en-US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üleeuroopalist konsortiumit</a:t>
            </a:r>
            <a:r>
              <a:rPr lang="en-US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, mille hulgast eFTI4EU on välja töötanud eFTI näidis arhitektuuri.</a:t>
            </a:r>
            <a:endParaRPr lang="en-US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rgbClr val="332B60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Näidislahendus ei arvesta kõiki eFTI regulatsioonidest tulenevaid nõudeid, näiteks </a:t>
            </a:r>
            <a:r>
              <a:rPr lang="en-US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2024/1942 artikkel 9 (3)</a:t>
            </a:r>
            <a:r>
              <a:rPr lang="en-US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, mis puudutab värava ja platvormi vahelisi päringuid.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420430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Eesmärk</a:t>
            </a:r>
            <a:endParaRPr/>
          </a:p>
        </p:txBody>
      </p:sp>
      <p:sp>
        <p:nvSpPr>
          <p:cNvPr id="1623320024" name="Text Placeholder 1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79423" y="1360162"/>
            <a:ext cx="8802241" cy="414019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lang="en-US" sz="180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5pPr>
            <a:lvl6pPr marL="2514599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defRPr/>
            </a:pPr>
            <a:r>
              <a:rPr lang="et-EE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Põhieesmärk</a:t>
            </a:r>
            <a:r>
              <a:rPr lang="et-EE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:</a:t>
            </a: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 lahendada eelmisel slaidil toodud probleem.</a:t>
            </a:r>
            <a:endParaRPr lang="en-US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rgbClr val="332B60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t-EE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Alameesmärk 1</a:t>
            </a:r>
            <a:r>
              <a:rPr lang="et-EE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:</a:t>
            </a: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 olemasolevate valmiskomponentide analüüs.</a:t>
            </a:r>
            <a:endParaRPr lang="et-EE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r>
              <a:rPr lang="et-EE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Alameesmärk 2:</a:t>
            </a: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näidislahenduse loomine dünaamilise sõnumivahetuse võimaldamiseks.</a:t>
            </a:r>
            <a:endParaRPr lang="en-US" sz="1800" b="0" i="0" u="none" strike="noStrike" cap="none" spc="0">
              <a:solidFill>
                <a:srgbClr val="332B60"/>
              </a:solidFill>
              <a:latin typeface="Verdana"/>
              <a:ea typeface="Verdana"/>
              <a:cs typeface="Verdana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rgbClr val="332B60"/>
              </a:solidFill>
              <a:latin typeface="Verdana"/>
              <a:cs typeface="Verdana"/>
            </a:endParaRPr>
          </a:p>
          <a:p>
            <a:pPr>
              <a:defRPr/>
            </a:pPr>
            <a:r>
              <a:rPr lang="et-EE" sz="1800" b="1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Alameesmärk 3: </a:t>
            </a:r>
            <a:r>
              <a:rPr lang="et-EE" sz="1800" b="0" i="0" u="none" strike="noStrike" cap="none" spc="0">
                <a:solidFill>
                  <a:srgbClr val="332B60"/>
                </a:solidFill>
                <a:latin typeface="Verdana"/>
                <a:ea typeface="Verdana"/>
                <a:cs typeface="Verdana"/>
              </a:rPr>
              <a:t>jõudluse testimine</a:t>
            </a:r>
            <a:endParaRPr lang="en-US" sz="1800" b="0" i="0" u="none" strike="noStrike" cap="none" spc="0">
              <a:solidFill>
                <a:srgbClr val="332B60"/>
              </a:solidFill>
              <a:latin typeface="Verdana"/>
              <a:cs typeface="Verdana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790628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Analüüs AP, SMP ja SML komponentidele</a:t>
            </a:r>
            <a:endParaRPr/>
          </a:p>
        </p:txBody>
      </p:sp>
      <p:sp>
        <p:nvSpPr>
          <p:cNvPr id="857836693" name="Text Placeholder 1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79423" y="1360162"/>
            <a:ext cx="8802241" cy="414019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lang="en-US" sz="180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5pPr>
            <a:lvl6pPr marL="2514599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 marL="0" indent="0">
              <a:buClr>
                <a:srgbClr val="E4067E"/>
              </a:buClr>
              <a:buSzTx/>
              <a:buFont typeface="Wingdings"/>
              <a:buNone/>
              <a:defRPr/>
            </a:pPr>
            <a:r>
              <a:rPr lang="et-EE"/>
              <a:t>Analüüsi käigus osutusid valituks järgmised komponendid:</a:t>
            </a:r>
            <a:endParaRPr lang="et-EE"/>
          </a:p>
          <a:p>
            <a:pPr marL="0" indent="0">
              <a:buClr>
                <a:srgbClr val="E4067E"/>
              </a:buClr>
              <a:buSzTx/>
              <a:buFont typeface="Wingdings"/>
              <a:buNone/>
              <a:defRPr/>
            </a:pPr>
            <a:endParaRPr/>
          </a:p>
          <a:p>
            <a:pPr marL="0" indent="0">
              <a:buClr>
                <a:srgbClr val="E4067E"/>
              </a:buClr>
              <a:buSzTx/>
              <a:buFont typeface="Wingdings"/>
              <a:buNone/>
              <a:defRPr/>
            </a:pPr>
            <a:endParaRPr/>
          </a:p>
        </p:txBody>
      </p:sp>
      <p:graphicFrame>
        <p:nvGraphicFramePr>
          <p:cNvPr id="5695780" name=""/>
          <p:cNvGraphicFramePr>
            <a:graphicFrameLocks xmlns:a="http://schemas.openxmlformats.org/drawingml/2006/main"/>
          </p:cNvGraphicFramePr>
          <p:nvPr/>
        </p:nvGraphicFramePr>
        <p:xfrm>
          <a:off x="1662682" y="2698742"/>
          <a:ext cx="8127999" cy="7315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t-EE"/>
                        <a:t>AP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t-EE"/>
                        <a:t>SMP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t-EE"/>
                        <a:t>SML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t-EE"/>
                        <a:t>Harmony eDelivery access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t-EE"/>
                        <a:t>Phoss SMP server,</a:t>
                      </a:r>
                      <a:endParaRPr lang="et-EE"/>
                    </a:p>
                    <a:p>
                      <a:pPr>
                        <a:defRPr/>
                      </a:pPr>
                      <a:r>
                        <a:rPr lang="et-EE"/>
                        <a:t>Harmony SMP server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</a:rPr>
                        <a:t>∅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052636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Näidislahenduse loomine</a:t>
            </a:r>
            <a:endParaRPr/>
          </a:p>
        </p:txBody>
      </p:sp>
      <p:sp>
        <p:nvSpPr>
          <p:cNvPr id="595978605" name="Text Placeholder 1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79423" y="1358899"/>
            <a:ext cx="8802241" cy="414019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lang="en-US" sz="180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5pPr>
            <a:lvl6pPr marL="2514599" marR="0" indent="-28575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E4067E"/>
              </a:buClr>
              <a:buSzTx/>
              <a:buFont typeface="Wingdings"/>
              <a:buChar char="§"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 marL="0" indent="0">
              <a:buClr>
                <a:srgbClr val="E4067E"/>
              </a:buClr>
              <a:buSzTx/>
              <a:buFont typeface="Wingdings"/>
              <a:buNone/>
              <a:defRPr/>
            </a:pPr>
            <a:r>
              <a:rPr lang="et-EE"/>
              <a:t>Arendatud neljas etapis</a:t>
            </a:r>
            <a:r>
              <a:rPr lang="et-EE"/>
              <a:t> alustades kõige lihtsamast, töötavast versioonist – staatiline ühendus.</a:t>
            </a:r>
            <a:endParaRPr lang="et-EE"/>
          </a:p>
          <a:p>
            <a:pPr marL="0" indent="0">
              <a:buClr>
                <a:srgbClr val="E4067E"/>
              </a:buClr>
              <a:buSzTx/>
              <a:buFont typeface="Wingdings"/>
              <a:buNone/>
              <a:defRPr/>
            </a:pPr>
            <a:endParaRPr lang="et-EE"/>
          </a:p>
          <a:p>
            <a:pPr marL="0" indent="0">
              <a:buClr>
                <a:srgbClr val="E4067E"/>
              </a:buClr>
              <a:buSzTx/>
              <a:buFont typeface="Wingdings"/>
              <a:buNone/>
              <a:defRPr/>
            </a:pPr>
            <a:r>
              <a:rPr lang="et-EE"/>
              <a:t>Liikudes samm-sammult täielikult dünaamilise sõnumivahetuseni</a:t>
            </a:r>
            <a:endParaRPr lang="et-E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96729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Etapp 1</a:t>
            </a:r>
            <a:r>
              <a:rPr lang="et-EE"/>
              <a:t> tulemus – Staatiline konfiguratsioon</a:t>
            </a:r>
            <a:endParaRPr lang="et-EE"/>
          </a:p>
        </p:txBody>
      </p:sp>
      <p:pic>
        <p:nvPicPr>
          <p:cNvPr id="14486421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70769" y="1360162"/>
            <a:ext cx="8111825" cy="4354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66091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Etapp 2</a:t>
            </a:r>
            <a:r>
              <a:rPr lang="et-EE"/>
              <a:t> tulemus</a:t>
            </a:r>
            <a:r>
              <a:rPr lang="et-EE"/>
              <a:t> – Dünaamiline konfiguratsioon</a:t>
            </a:r>
            <a:endParaRPr lang="et-EE"/>
          </a:p>
        </p:txBody>
      </p:sp>
      <p:pic>
        <p:nvPicPr>
          <p:cNvPr id="21176554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9423" y="1050072"/>
            <a:ext cx="11186731" cy="4365553"/>
          </a:xfrm>
          <a:prstGeom prst="rect">
            <a:avLst/>
          </a:prstGeom>
        </p:spPr>
      </p:pic>
      <p:sp>
        <p:nvSpPr>
          <p:cNvPr id="823203821" name=""/>
          <p:cNvSpPr/>
          <p:nvPr/>
        </p:nvSpPr>
        <p:spPr bwMode="auto">
          <a:xfrm>
            <a:off x="3830024" y="3209924"/>
            <a:ext cx="2552699" cy="4762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34559"/>
                </a:moveTo>
                <a:cubicBezTo>
                  <a:pt x="644" y="25919"/>
                  <a:pt x="1289" y="25919"/>
                  <a:pt x="1934" y="25919"/>
                </a:cubicBezTo>
                <a:cubicBezTo>
                  <a:pt x="2740" y="25919"/>
                  <a:pt x="3546" y="25919"/>
                  <a:pt x="4191" y="25919"/>
                </a:cubicBezTo>
                <a:cubicBezTo>
                  <a:pt x="4835" y="25919"/>
                  <a:pt x="5480" y="25919"/>
                  <a:pt x="6125" y="34559"/>
                </a:cubicBezTo>
                <a:cubicBezTo>
                  <a:pt x="6770" y="34559"/>
                  <a:pt x="7414" y="43200"/>
                  <a:pt x="8059" y="43200"/>
                </a:cubicBezTo>
                <a:cubicBezTo>
                  <a:pt x="8704" y="43200"/>
                  <a:pt x="9349" y="43200"/>
                  <a:pt x="9994" y="43200"/>
                </a:cubicBezTo>
                <a:cubicBezTo>
                  <a:pt x="10638" y="43200"/>
                  <a:pt x="11283" y="43200"/>
                  <a:pt x="11928" y="43200"/>
                </a:cubicBezTo>
                <a:cubicBezTo>
                  <a:pt x="12573" y="43200"/>
                  <a:pt x="13217" y="43200"/>
                  <a:pt x="13862" y="34559"/>
                </a:cubicBezTo>
                <a:cubicBezTo>
                  <a:pt x="14507" y="34559"/>
                  <a:pt x="15152" y="34559"/>
                  <a:pt x="15797" y="43200"/>
                </a:cubicBezTo>
                <a:cubicBezTo>
                  <a:pt x="16441" y="34559"/>
                  <a:pt x="17086" y="34559"/>
                  <a:pt x="17731" y="25919"/>
                </a:cubicBezTo>
                <a:cubicBezTo>
                  <a:pt x="18376" y="25919"/>
                  <a:pt x="19020" y="25919"/>
                  <a:pt x="19665" y="25919"/>
                </a:cubicBezTo>
                <a:cubicBezTo>
                  <a:pt x="20310" y="17279"/>
                  <a:pt x="20955" y="17279"/>
                  <a:pt x="21600" y="17279"/>
                </a:cubicBezTo>
                <a:cubicBezTo>
                  <a:pt x="22244" y="8640"/>
                  <a:pt x="22889" y="8640"/>
                  <a:pt x="23534" y="0"/>
                </a:cubicBezTo>
                <a:cubicBezTo>
                  <a:pt x="24179" y="0"/>
                  <a:pt x="24823" y="0"/>
                  <a:pt x="25468" y="0"/>
                </a:cubicBezTo>
                <a:cubicBezTo>
                  <a:pt x="26113" y="0"/>
                  <a:pt x="26758" y="0"/>
                  <a:pt x="27402" y="0"/>
                </a:cubicBezTo>
                <a:cubicBezTo>
                  <a:pt x="28047" y="0"/>
                  <a:pt x="28692" y="0"/>
                  <a:pt x="29337" y="0"/>
                </a:cubicBezTo>
                <a:cubicBezTo>
                  <a:pt x="29982" y="0"/>
                  <a:pt x="30626" y="0"/>
                  <a:pt x="31271" y="0"/>
                </a:cubicBezTo>
                <a:cubicBezTo>
                  <a:pt x="31916" y="8640"/>
                  <a:pt x="32561" y="8640"/>
                  <a:pt x="33205" y="8640"/>
                </a:cubicBezTo>
                <a:cubicBezTo>
                  <a:pt x="33850" y="8640"/>
                  <a:pt x="34495" y="8640"/>
                  <a:pt x="35140" y="8640"/>
                </a:cubicBezTo>
                <a:cubicBezTo>
                  <a:pt x="35785" y="8640"/>
                  <a:pt x="36429" y="8640"/>
                  <a:pt x="37235" y="17279"/>
                </a:cubicBezTo>
                <a:cubicBezTo>
                  <a:pt x="37880" y="17279"/>
                  <a:pt x="38525" y="17279"/>
                  <a:pt x="39331" y="17279"/>
                </a:cubicBezTo>
                <a:cubicBezTo>
                  <a:pt x="39976" y="17279"/>
                  <a:pt x="40620" y="17279"/>
                  <a:pt x="41265" y="17279"/>
                </a:cubicBezTo>
                <a:cubicBezTo>
                  <a:pt x="41910" y="17279"/>
                  <a:pt x="42555" y="17279"/>
                  <a:pt x="43200" y="17279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1228908" name=""/>
          <p:cNvSpPr/>
          <p:nvPr/>
        </p:nvSpPr>
        <p:spPr bwMode="auto">
          <a:xfrm>
            <a:off x="3210899" y="2905124"/>
            <a:ext cx="3238499" cy="10477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11781"/>
                </a:moveTo>
                <a:cubicBezTo>
                  <a:pt x="508" y="7854"/>
                  <a:pt x="1016" y="7854"/>
                  <a:pt x="1778" y="11781"/>
                </a:cubicBezTo>
                <a:cubicBezTo>
                  <a:pt x="2287" y="11781"/>
                  <a:pt x="2795" y="15709"/>
                  <a:pt x="3303" y="15709"/>
                </a:cubicBezTo>
                <a:cubicBezTo>
                  <a:pt x="3811" y="15709"/>
                  <a:pt x="4320" y="15709"/>
                  <a:pt x="4828" y="15709"/>
                </a:cubicBezTo>
                <a:cubicBezTo>
                  <a:pt x="5336" y="15709"/>
                  <a:pt x="5844" y="11781"/>
                  <a:pt x="6352" y="7854"/>
                </a:cubicBezTo>
                <a:cubicBezTo>
                  <a:pt x="6861" y="7854"/>
                  <a:pt x="7369" y="7854"/>
                  <a:pt x="7877" y="7854"/>
                </a:cubicBezTo>
                <a:cubicBezTo>
                  <a:pt x="8385" y="7854"/>
                  <a:pt x="8894" y="7854"/>
                  <a:pt x="9402" y="7854"/>
                </a:cubicBezTo>
                <a:cubicBezTo>
                  <a:pt x="9910" y="7854"/>
                  <a:pt x="10418" y="11781"/>
                  <a:pt x="10927" y="11781"/>
                </a:cubicBezTo>
                <a:cubicBezTo>
                  <a:pt x="11435" y="15709"/>
                  <a:pt x="11943" y="15709"/>
                  <a:pt x="12451" y="15709"/>
                </a:cubicBezTo>
                <a:cubicBezTo>
                  <a:pt x="12959" y="15709"/>
                  <a:pt x="13595" y="15709"/>
                  <a:pt x="14357" y="19636"/>
                </a:cubicBezTo>
                <a:cubicBezTo>
                  <a:pt x="14865" y="19636"/>
                  <a:pt x="15374" y="19636"/>
                  <a:pt x="15882" y="19636"/>
                </a:cubicBezTo>
                <a:cubicBezTo>
                  <a:pt x="16390" y="19636"/>
                  <a:pt x="17025" y="19636"/>
                  <a:pt x="17534" y="19636"/>
                </a:cubicBezTo>
                <a:cubicBezTo>
                  <a:pt x="18042" y="15709"/>
                  <a:pt x="18550" y="7854"/>
                  <a:pt x="19058" y="3927"/>
                </a:cubicBezTo>
                <a:cubicBezTo>
                  <a:pt x="19567" y="3927"/>
                  <a:pt x="20075" y="3927"/>
                  <a:pt x="20583" y="7854"/>
                </a:cubicBezTo>
                <a:cubicBezTo>
                  <a:pt x="20964" y="19636"/>
                  <a:pt x="21472" y="27490"/>
                  <a:pt x="21981" y="35345"/>
                </a:cubicBezTo>
                <a:cubicBezTo>
                  <a:pt x="22489" y="35345"/>
                  <a:pt x="22997" y="39272"/>
                  <a:pt x="23505" y="43200"/>
                </a:cubicBezTo>
                <a:cubicBezTo>
                  <a:pt x="24141" y="43200"/>
                  <a:pt x="24649" y="43200"/>
                  <a:pt x="25157" y="43200"/>
                </a:cubicBezTo>
                <a:cubicBezTo>
                  <a:pt x="25665" y="43200"/>
                  <a:pt x="26174" y="43200"/>
                  <a:pt x="26682" y="43200"/>
                </a:cubicBezTo>
                <a:cubicBezTo>
                  <a:pt x="27190" y="43200"/>
                  <a:pt x="27698" y="35345"/>
                  <a:pt x="28207" y="27490"/>
                </a:cubicBezTo>
                <a:cubicBezTo>
                  <a:pt x="28969" y="19636"/>
                  <a:pt x="29477" y="19636"/>
                  <a:pt x="29985" y="15709"/>
                </a:cubicBezTo>
                <a:cubicBezTo>
                  <a:pt x="30494" y="15709"/>
                  <a:pt x="31002" y="15709"/>
                  <a:pt x="31510" y="15709"/>
                </a:cubicBezTo>
                <a:cubicBezTo>
                  <a:pt x="32018" y="19636"/>
                  <a:pt x="32527" y="15709"/>
                  <a:pt x="33035" y="11781"/>
                </a:cubicBezTo>
                <a:cubicBezTo>
                  <a:pt x="33670" y="11781"/>
                  <a:pt x="34178" y="11781"/>
                  <a:pt x="34687" y="11781"/>
                </a:cubicBezTo>
                <a:cubicBezTo>
                  <a:pt x="35195" y="11781"/>
                  <a:pt x="35957" y="11781"/>
                  <a:pt x="36465" y="11781"/>
                </a:cubicBezTo>
                <a:cubicBezTo>
                  <a:pt x="36974" y="11781"/>
                  <a:pt x="37482" y="11781"/>
                  <a:pt x="37990" y="11781"/>
                </a:cubicBezTo>
                <a:cubicBezTo>
                  <a:pt x="38498" y="11781"/>
                  <a:pt x="39007" y="11781"/>
                  <a:pt x="39515" y="7854"/>
                </a:cubicBezTo>
                <a:cubicBezTo>
                  <a:pt x="40023" y="3927"/>
                  <a:pt x="40531" y="0"/>
                  <a:pt x="41040" y="0"/>
                </a:cubicBezTo>
                <a:cubicBezTo>
                  <a:pt x="41548" y="0"/>
                  <a:pt x="42056" y="0"/>
                  <a:pt x="42564" y="0"/>
                </a:cubicBezTo>
                <a:lnTo>
                  <a:pt x="43200" y="3927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226717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Etapp 3 </a:t>
            </a:r>
            <a:r>
              <a:rPr lang="et-EE"/>
              <a:t>tulemus</a:t>
            </a:r>
            <a:r>
              <a:rPr lang="et-EE"/>
              <a:t> – sml serveri loomine</a:t>
            </a:r>
            <a:endParaRPr lang="et-EE"/>
          </a:p>
        </p:txBody>
      </p:sp>
      <p:pic>
        <p:nvPicPr>
          <p:cNvPr id="11855327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136175"/>
            <a:ext cx="12191999" cy="4585647"/>
          </a:xfrm>
          <a:prstGeom prst="rect">
            <a:avLst/>
          </a:prstGeom>
        </p:spPr>
      </p:pic>
      <p:sp>
        <p:nvSpPr>
          <p:cNvPr id="2025156109" name=""/>
          <p:cNvSpPr/>
          <p:nvPr/>
        </p:nvSpPr>
        <p:spPr bwMode="auto">
          <a:xfrm>
            <a:off x="2064833" y="3608916"/>
            <a:ext cx="3206749" cy="11641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2629" y="7854"/>
                  <a:pt x="42059" y="11781"/>
                  <a:pt x="41489" y="15709"/>
                </a:cubicBezTo>
                <a:cubicBezTo>
                  <a:pt x="40776" y="15709"/>
                  <a:pt x="40205" y="19636"/>
                  <a:pt x="39635" y="19636"/>
                </a:cubicBezTo>
                <a:cubicBezTo>
                  <a:pt x="39065" y="19636"/>
                  <a:pt x="38495" y="19636"/>
                  <a:pt x="37924" y="19636"/>
                </a:cubicBezTo>
                <a:cubicBezTo>
                  <a:pt x="37354" y="19636"/>
                  <a:pt x="36784" y="19636"/>
                  <a:pt x="36213" y="19636"/>
                </a:cubicBezTo>
                <a:cubicBezTo>
                  <a:pt x="35643" y="19636"/>
                  <a:pt x="35073" y="19636"/>
                  <a:pt x="34502" y="19636"/>
                </a:cubicBezTo>
                <a:cubicBezTo>
                  <a:pt x="33932" y="19636"/>
                  <a:pt x="33219" y="19636"/>
                  <a:pt x="32649" y="19636"/>
                </a:cubicBezTo>
                <a:cubicBezTo>
                  <a:pt x="31936" y="19636"/>
                  <a:pt x="31366" y="19636"/>
                  <a:pt x="30796" y="23563"/>
                </a:cubicBezTo>
                <a:cubicBezTo>
                  <a:pt x="29940" y="23563"/>
                  <a:pt x="29370" y="23563"/>
                  <a:pt x="28799" y="27490"/>
                </a:cubicBezTo>
                <a:cubicBezTo>
                  <a:pt x="28229" y="27490"/>
                  <a:pt x="27659" y="31418"/>
                  <a:pt x="27089" y="31418"/>
                </a:cubicBezTo>
                <a:cubicBezTo>
                  <a:pt x="26518" y="31418"/>
                  <a:pt x="25805" y="31418"/>
                  <a:pt x="25093" y="31418"/>
                </a:cubicBezTo>
                <a:cubicBezTo>
                  <a:pt x="24380" y="35345"/>
                  <a:pt x="23809" y="35345"/>
                  <a:pt x="23239" y="35345"/>
                </a:cubicBezTo>
                <a:cubicBezTo>
                  <a:pt x="22669" y="35345"/>
                  <a:pt x="21956" y="35345"/>
                  <a:pt x="21386" y="35345"/>
                </a:cubicBezTo>
                <a:cubicBezTo>
                  <a:pt x="20815" y="35345"/>
                  <a:pt x="20102" y="39272"/>
                  <a:pt x="19247" y="43200"/>
                </a:cubicBezTo>
                <a:cubicBezTo>
                  <a:pt x="18677" y="43200"/>
                  <a:pt x="17821" y="43200"/>
                  <a:pt x="17108" y="43200"/>
                </a:cubicBezTo>
                <a:cubicBezTo>
                  <a:pt x="16396" y="43200"/>
                  <a:pt x="15825" y="43200"/>
                  <a:pt x="15255" y="43200"/>
                </a:cubicBezTo>
                <a:cubicBezTo>
                  <a:pt x="14685" y="43200"/>
                  <a:pt x="13972" y="43200"/>
                  <a:pt x="13401" y="43200"/>
                </a:cubicBezTo>
                <a:cubicBezTo>
                  <a:pt x="12831" y="43200"/>
                  <a:pt x="12261" y="43200"/>
                  <a:pt x="11691" y="43200"/>
                </a:cubicBezTo>
                <a:cubicBezTo>
                  <a:pt x="11120" y="43200"/>
                  <a:pt x="10550" y="43200"/>
                  <a:pt x="9837" y="39272"/>
                </a:cubicBezTo>
                <a:cubicBezTo>
                  <a:pt x="9267" y="39272"/>
                  <a:pt x="8554" y="39272"/>
                  <a:pt x="7984" y="39272"/>
                </a:cubicBezTo>
                <a:cubicBezTo>
                  <a:pt x="7413" y="35345"/>
                  <a:pt x="6700" y="35345"/>
                  <a:pt x="5988" y="35345"/>
                </a:cubicBezTo>
                <a:cubicBezTo>
                  <a:pt x="5417" y="35345"/>
                  <a:pt x="4847" y="39272"/>
                  <a:pt x="4277" y="39272"/>
                </a:cubicBezTo>
                <a:cubicBezTo>
                  <a:pt x="3706" y="39272"/>
                  <a:pt x="2994" y="35345"/>
                  <a:pt x="2423" y="35345"/>
                </a:cubicBezTo>
                <a:cubicBezTo>
                  <a:pt x="1710" y="35345"/>
                  <a:pt x="1140" y="31418"/>
                  <a:pt x="570" y="31418"/>
                </a:cubicBezTo>
                <a:lnTo>
                  <a:pt x="0" y="31418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028357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Etapp 4 </a:t>
            </a:r>
            <a:r>
              <a:rPr lang="et-EE"/>
              <a:t>tulemus</a:t>
            </a:r>
            <a:r>
              <a:rPr lang="et-EE"/>
              <a:t> – smp serveri loomine</a:t>
            </a:r>
            <a:endParaRPr lang="et-EE"/>
          </a:p>
        </p:txBody>
      </p:sp>
      <p:pic>
        <p:nvPicPr>
          <p:cNvPr id="18096579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76364" y="1072683"/>
            <a:ext cx="9100636" cy="52328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329754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Jõudlustestide tulemused</a:t>
            </a:r>
            <a:endParaRPr/>
          </a:p>
        </p:txBody>
      </p:sp>
      <p:pic>
        <p:nvPicPr>
          <p:cNvPr id="5215467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97751" y="871854"/>
            <a:ext cx="8396496" cy="5023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999840" name="Text Placehold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9423" y="549274"/>
            <a:ext cx="10494516" cy="810887"/>
          </a:xfrm>
          <a:prstGeom prst="rect">
            <a:avLst/>
          </a:prstGeom>
        </p:spPr>
        <p:txBody>
          <a:bodyPr/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200" b="1" i="0" cap="all">
                <a:solidFill>
                  <a:srgbClr val="332B60"/>
                </a:solidFill>
                <a:latin typeface="Verdana"/>
              </a:defRPr>
            </a:lvl1pPr>
          </a:lstStyle>
          <a:p>
            <a:pPr>
              <a:defRPr/>
            </a:pPr>
            <a:r>
              <a:rPr lang="et-EE"/>
              <a:t>Näidislahenduse arhitektuur</a:t>
            </a:r>
            <a:endParaRPr/>
          </a:p>
        </p:txBody>
      </p:sp>
      <p:pic>
        <p:nvPicPr>
          <p:cNvPr id="21215373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5009" y="1002975"/>
            <a:ext cx="10083345" cy="46910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3880918" name="Picture 6"/>
          <p:cNvPicPr>
            <a:picLocks noChangeAspect="1"/>
          </p:cNvPicPr>
          <p:nvPr/>
        </p:nvPicPr>
        <p:blipFill rotWithShape="1">
          <a:blip r:embed="rId3"/>
          <a:srcRect l="-143" t="21094" r="-1" b="21589"/>
          <a:stretch/>
        </p:blipFill>
        <p:spPr bwMode="auto">
          <a:xfrm>
            <a:off x="-15498" y="0"/>
            <a:ext cx="12207497" cy="4940618"/>
          </a:xfrm>
          <a:prstGeom prst="rect">
            <a:avLst/>
          </a:prstGeom>
        </p:spPr>
      </p:pic>
      <p:sp>
        <p:nvSpPr>
          <p:cNvPr id="1129307221" name="Freeform 3"/>
          <p:cNvSpPr/>
          <p:nvPr/>
        </p:nvSpPr>
        <p:spPr bwMode="auto"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 fill="norm" stroke="1" extrusionOk="0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238976407" name="Text Placeholder 1"/>
          <p:cNvSpPr>
            <a:spLocks noGrp="1"/>
          </p:cNvSpPr>
          <p:nvPr>
            <p:ph type="body" sz="quarter" idx="11"/>
          </p:nvPr>
        </p:nvSpPr>
        <p:spPr bwMode="auto">
          <a:xfrm>
            <a:off x="976869" y="4801074"/>
            <a:ext cx="10159444" cy="163506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TALLINN</a:t>
            </a:r>
            <a:r>
              <a:rPr lang="et-EE"/>
              <a:t>A</a:t>
            </a:r>
            <a:r>
              <a:rPr lang="en-US"/>
              <a:t> </a:t>
            </a:r>
            <a:r>
              <a:rPr lang="et-EE"/>
              <a:t>TEHNIKAÜLIKOOL</a:t>
            </a:r>
            <a:endParaRPr lang="en-US"/>
          </a:p>
          <a:p>
            <a:pPr>
              <a:defRPr/>
            </a:pPr>
            <a:r>
              <a:rPr lang="en-US" sz="1700" b="0" cap="none">
                <a:solidFill>
                  <a:srgbClr val="332B60"/>
                </a:solidFill>
              </a:rPr>
              <a:t>Ehitajate</a:t>
            </a:r>
            <a:r>
              <a:rPr lang="en-US" sz="1700" b="0" cap="none">
                <a:solidFill>
                  <a:srgbClr val="332B60"/>
                </a:solidFill>
              </a:rPr>
              <a:t> </a:t>
            </a:r>
            <a:r>
              <a:rPr lang="et-EE" sz="1700" b="0" cap="none">
                <a:solidFill>
                  <a:srgbClr val="332B60"/>
                </a:solidFill>
              </a:rPr>
              <a:t>tee</a:t>
            </a:r>
            <a:r>
              <a:rPr lang="en-US" sz="1700" b="0" cap="none">
                <a:solidFill>
                  <a:srgbClr val="332B60"/>
                </a:solidFill>
              </a:rPr>
              <a:t> 5, 19086 </a:t>
            </a:r>
            <a:r>
              <a:rPr lang="en-US" sz="1700" b="0" cap="none">
                <a:solidFill>
                  <a:srgbClr val="332B60"/>
                </a:solidFill>
              </a:rPr>
              <a:t>Tallinn</a:t>
            </a:r>
            <a:r>
              <a:rPr lang="et-EE" sz="1700" b="0" cap="none">
                <a:solidFill>
                  <a:srgbClr val="332B60"/>
                </a:solidFill>
              </a:rPr>
              <a:t>, </a:t>
            </a:r>
            <a:endParaRPr/>
          </a:p>
          <a:p>
            <a:pPr>
              <a:defRPr/>
            </a:pPr>
            <a:r>
              <a:rPr lang="et-EE" sz="1700" b="0" cap="none">
                <a:solidFill>
                  <a:srgbClr val="332B60"/>
                </a:solidFill>
              </a:rPr>
              <a:t>Tel </a:t>
            </a:r>
            <a:r>
              <a:rPr lang="en-US" sz="1700" b="0" cap="none">
                <a:solidFill>
                  <a:srgbClr val="332B60"/>
                </a:solidFill>
              </a:rPr>
              <a:t>620 2002 (</a:t>
            </a:r>
            <a:r>
              <a:rPr lang="et-EE" sz="1700" b="0" cap="none">
                <a:solidFill>
                  <a:srgbClr val="332B60"/>
                </a:solidFill>
              </a:rPr>
              <a:t>E-R</a:t>
            </a:r>
            <a:r>
              <a:rPr lang="en-US" sz="1700" b="0" cap="none">
                <a:solidFill>
                  <a:srgbClr val="332B60"/>
                </a:solidFill>
              </a:rPr>
              <a:t> 8.30–</a:t>
            </a:r>
            <a:r>
              <a:rPr lang="et-EE" sz="1700" b="0" cap="none">
                <a:solidFill>
                  <a:srgbClr val="332B60"/>
                </a:solidFill>
              </a:rPr>
              <a:t>17</a:t>
            </a:r>
            <a:r>
              <a:rPr lang="en-US" sz="1700" b="0" cap="none">
                <a:solidFill>
                  <a:srgbClr val="332B60"/>
                </a:solidFill>
              </a:rPr>
              <a:t>.00</a:t>
            </a:r>
            <a:r>
              <a:rPr lang="et-EE" sz="1700" b="0" cap="none">
                <a:solidFill>
                  <a:srgbClr val="332B60"/>
                </a:solidFill>
              </a:rPr>
              <a:t>)</a:t>
            </a:r>
            <a:endParaRPr lang="en-US" sz="1700" cap="none">
              <a:solidFill>
                <a:srgbClr val="332B60"/>
              </a:solidFill>
            </a:endParaRPr>
          </a:p>
          <a:p>
            <a:pPr>
              <a:defRPr/>
            </a:pPr>
            <a:r>
              <a:rPr lang="en-US" sz="1700" cap="none">
                <a:solidFill>
                  <a:srgbClr val="332B60"/>
                </a:solidFill>
                <a:latin typeface="Verdana"/>
              </a:rPr>
              <a:t>t</a:t>
            </a:r>
            <a:r>
              <a:rPr lang="et-EE" sz="1700" cap="none">
                <a:solidFill>
                  <a:srgbClr val="332B60"/>
                </a:solidFill>
                <a:latin typeface="Verdana"/>
              </a:rPr>
              <a:t>altech</a:t>
            </a:r>
            <a:r>
              <a:rPr lang="en-US" sz="1700" cap="none">
                <a:solidFill>
                  <a:srgbClr val="332B60"/>
                </a:solidFill>
                <a:latin typeface="Verdana"/>
              </a:rPr>
              <a:t>.</a:t>
            </a:r>
            <a:r>
              <a:rPr lang="en-US" sz="1700" cap="none">
                <a:solidFill>
                  <a:srgbClr val="332B60"/>
                </a:solidFill>
                <a:latin typeface="Verdana"/>
              </a:rPr>
              <a:t>ee</a:t>
            </a:r>
            <a:endParaRPr lang="en-US" sz="1700" cap="none">
              <a:solidFill>
                <a:srgbClr val="332B60"/>
              </a:solidFill>
            </a:endParaRPr>
          </a:p>
          <a:p>
            <a:pPr>
              <a:defRPr/>
            </a:pPr>
            <a:endParaRPr lang="en-US"/>
          </a:p>
        </p:txBody>
      </p:sp>
      <p:pic>
        <p:nvPicPr>
          <p:cNvPr id="1246696387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77555" y="1958640"/>
            <a:ext cx="2447645" cy="1370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'i kujundus">
  <a:themeElements>
    <a:clrScheme name="TalTech">
      <a:dk1>
        <a:srgbClr val="000000"/>
      </a:dk1>
      <a:lt1>
        <a:srgbClr val="FFFFFF"/>
      </a:lt1>
      <a:dk2>
        <a:srgbClr val="332B60"/>
      </a:dk2>
      <a:lt2>
        <a:srgbClr val="DADAE4"/>
      </a:lt2>
      <a:accent1>
        <a:srgbClr val="E4067E"/>
      </a:accent1>
      <a:accent2>
        <a:srgbClr val="9396B0"/>
      </a:accent2>
      <a:accent3>
        <a:srgbClr val="AB1352"/>
      </a:accent3>
      <a:accent4>
        <a:srgbClr val="4FBFD3"/>
      </a:accent4>
      <a:accent5>
        <a:srgbClr val="332B60"/>
      </a:accent5>
      <a:accent6>
        <a:srgbClr val="DADAE4"/>
      </a:accent6>
      <a:hlink>
        <a:srgbClr val="AB1352"/>
      </a:hlink>
      <a:folHlink>
        <a:srgbClr val="AB1352"/>
      </a:folHlink>
    </a:clrScheme>
    <a:fontScheme name="TTÜ">
      <a:majorFont>
        <a:latin typeface="Verdana"/>
        <a:ea typeface="Arial"/>
        <a:cs typeface="Arial"/>
      </a:majorFont>
      <a:minorFont>
        <a:latin typeface="Verdan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Tallinn University of Technology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PowerPointi esitlus</dc:title>
  <dc:creator>Anu Teder</dc:creator>
  <cp:lastModifiedBy/>
  <cp:revision>132</cp:revision>
  <dcterms:created xsi:type="dcterms:W3CDTF">2018-09-19T06:51:01Z</dcterms:created>
  <dcterms:modified xsi:type="dcterms:W3CDTF">2026-05-24T10:09:08Z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9643374</vt:lpwstr>
  </property>
  <property fmtid="{D5CDD505-2E9C-101B-9397-08002B2CF9AE}" pid="3" name="NXPowerLiteSettings">
    <vt:lpwstr>C780073804F000</vt:lpwstr>
  </property>
  <property fmtid="{D5CDD505-2E9C-101B-9397-08002B2CF9AE}" pid="4" name="NXPowerLiteVersion">
    <vt:lpwstr>D8.0.4</vt:lpwstr>
  </property>
</Properties>
</file>